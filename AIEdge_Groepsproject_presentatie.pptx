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8669064-BDD8-4B14-9A22-6FD433670D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7912446-9180-415D-A7B3-2BF39F8778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D11378-044E-4A20-94EC-0F795E8704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4D1BC5-47C3-4C9A-9975-E62B707904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A34AE8-E7DA-4314-9D67-75C2DE990B3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1371600" y="685800"/>
            <a:ext cx="9600840" cy="68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561C46-03AA-40FE-A037-B382B9FB10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1F13C82-731E-4E2B-B586-E645FB39F6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29136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664014-2667-4F88-8B56-FC8E9B0DFB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11C6409-5D6F-4E6E-B4EA-A06EDBAFD8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1371600" y="415656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4A86D6-5DDB-47CD-91F4-B3AB12FB9F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629136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F9D7F9-083F-4EC1-83EF-5282277F03B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461772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786420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137160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461772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786420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5EE8F45-BD7D-4745-B40B-59DE460EA6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ED6ACF2-CE4F-432A-A7E2-9AA7001FE2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AE3CCA3-2534-4D4F-9105-E9CC8DB6D4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F9DCE67-A3BC-4AA7-A431-87219AB78E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8D224E9-5B8A-4EED-A89D-4347CC276C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4935DA8-49F9-4552-B3DA-A34F4E0E2F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1371600" y="685800"/>
            <a:ext cx="9600840" cy="68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01487B4-4B70-44AD-8171-2514460B84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A08EE55-851D-4E83-A84B-7C07685F08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358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29136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81581E1-EEE5-4E07-A5E2-9C9FB12B9C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50F60B1-E438-44A9-884A-0C5E78A3A7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1371600" y="4156560"/>
            <a:ext cx="96008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C548114-3F96-47E2-A2BA-992162E61A5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91360" y="228600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137160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291360" y="4156560"/>
            <a:ext cx="468504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D6FB1E7-FF09-4947-AA8B-64823A6136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1772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7864200" y="228600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137160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461772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7864200" y="4156560"/>
            <a:ext cx="3091320" cy="17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A5ECB3-BD72-4E0C-AF15-ACF0F26975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f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8" hidden="1"/>
          <p:cNvSpPr/>
          <p:nvPr/>
        </p:nvSpPr>
        <p:spPr>
          <a:xfrm>
            <a:off x="478080" y="360"/>
            <a:ext cx="2282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1000" cy="209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 algn="ctr">
              <a:lnSpc>
                <a:spcPct val="89000"/>
              </a:lnSpc>
              <a:buNone/>
            </a:pPr>
            <a:r>
              <a:rPr b="0" lang="nl-NL" sz="7200" spc="-1" strike="noStrike" cap="all">
                <a:solidFill>
                  <a:srgbClr val="191b0e"/>
                </a:solidFill>
                <a:latin typeface="Franklin Gothic Book"/>
              </a:rPr>
              <a:t>Klik om stijl te bewerken</a:t>
            </a:r>
            <a:endParaRPr b="0" lang="en-US" sz="72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752760" y="6453360"/>
            <a:ext cx="160776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191b0e"/>
                </a:solidFill>
                <a:latin typeface="Franklin Gothic Book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1b0e"/>
                </a:solidFill>
                <a:latin typeface="Franklin Gothic Book"/>
              </a:rPr>
              <a:t> 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2584080" y="6453360"/>
            <a:ext cx="702288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9830520" y="6453360"/>
            <a:ext cx="159588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191b0e"/>
                </a:solidFill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A25D7CB-FDF6-4449-AC72-D1E714246A3A}" type="slidenum">
              <a:rPr b="0" lang="en-US" sz="1200" spc="-1" strike="noStrike">
                <a:solidFill>
                  <a:srgbClr val="191b0e"/>
                </a:solidFill>
                <a:latin typeface="Franklin Gothic Book"/>
              </a:rPr>
              <a:t>3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5" name="Group 6"/>
          <p:cNvGrpSpPr/>
          <p:nvPr/>
        </p:nvGrpSpPr>
        <p:grpSpPr>
          <a:xfrm>
            <a:off x="752760" y="744120"/>
            <a:ext cx="10673640" cy="5349600"/>
            <a:chOff x="752760" y="744120"/>
            <a:chExt cx="10673640" cy="5349600"/>
          </a:xfrm>
        </p:grpSpPr>
        <p:sp>
          <p:nvSpPr>
            <p:cNvPr id="6" name="Freeform 6"/>
            <p:cNvSpPr/>
            <p:nvPr/>
          </p:nvSpPr>
          <p:spPr>
            <a:xfrm>
              <a:off x="8151840" y="1685520"/>
              <a:ext cx="3274560" cy="4408200"/>
            </a:xfrm>
            <a:custGeom>
              <a:avLst/>
              <a:gdLst>
                <a:gd name="textAreaLeft" fmla="*/ 0 w 3274560"/>
                <a:gd name="textAreaRight" fmla="*/ 3274920 w 3274560"/>
                <a:gd name="textAreaTop" fmla="*/ 0 h 4408200"/>
                <a:gd name="textAreaBottom" fmla="*/ 4408560 h 4408200"/>
              </a:gdLst>
              <a:ah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" name="Freeform 6"/>
            <p:cNvSpPr/>
            <p:nvPr/>
          </p:nvSpPr>
          <p:spPr>
            <a:xfrm flipH="1" flipV="1">
              <a:off x="752400" y="743760"/>
              <a:ext cx="3275280" cy="4408200"/>
            </a:xfrm>
            <a:custGeom>
              <a:avLst/>
              <a:gdLst>
                <a:gd name="textAreaLeft" fmla="*/ 360 w 3275280"/>
                <a:gd name="textAreaRight" fmla="*/ 3276000 w 3275280"/>
                <a:gd name="textAreaTop" fmla="*/ -360 h 4408200"/>
                <a:gd name="textAreaBottom" fmla="*/ 4408200 h 4408200"/>
              </a:gdLst>
              <a:ah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4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91b0e"/>
                </a:solidFill>
                <a:latin typeface="Franklin Gothic Book"/>
              </a:rPr>
              <a:t>Click to edit the outline text format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lvl="1" marL="864000" indent="-324000">
              <a:lnSpc>
                <a:spcPct val="94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191b0e"/>
                </a:solidFill>
                <a:latin typeface="Franklin Gothic Book"/>
              </a:rPr>
              <a:t>Second Outline Level</a:t>
            </a:r>
            <a:endParaRPr b="0" lang="en-US" sz="1800" spc="-1" strike="noStrike">
              <a:solidFill>
                <a:srgbClr val="191b0e"/>
              </a:solidFill>
              <a:latin typeface="Franklin Gothic Book"/>
            </a:endParaRPr>
          </a:p>
          <a:p>
            <a:pPr lvl="2" marL="1296000" indent="-288000">
              <a:lnSpc>
                <a:spcPct val="94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US" sz="1800" spc="-1" strike="noStrike">
                <a:solidFill>
                  <a:srgbClr val="191b0e"/>
                </a:solidFill>
                <a:latin typeface="Franklin Gothic Book"/>
              </a:rPr>
              <a:t>Third Outline Level</a:t>
            </a:r>
            <a:endParaRPr b="0" i="1" lang="en-US" sz="1800" spc="-1" strike="noStrike">
              <a:solidFill>
                <a:srgbClr val="191b0e"/>
              </a:solidFill>
              <a:latin typeface="Franklin Gothic Book"/>
            </a:endParaRPr>
          </a:p>
          <a:p>
            <a:pPr lvl="3" marL="1728000" indent="-216000">
              <a:lnSpc>
                <a:spcPct val="94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191b0e"/>
                </a:solidFill>
                <a:latin typeface="Franklin Gothic Book"/>
              </a:rPr>
              <a:t>Fourth Outline Level</a:t>
            </a:r>
            <a:endParaRPr b="0" lang="en-US" sz="1600" spc="-1" strike="noStrike">
              <a:solidFill>
                <a:srgbClr val="191b0e"/>
              </a:solidFill>
              <a:latin typeface="Franklin Gothic Book"/>
            </a:endParaRPr>
          </a:p>
          <a:p>
            <a:pPr lvl="4" marL="2160000" indent="-216000">
              <a:lnSpc>
                <a:spcPct val="94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91b0e"/>
                </a:solidFill>
                <a:latin typeface="Franklin Gothic Book"/>
              </a:rPr>
              <a:t>Fifth Outline Level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lvl="5" marL="2592000" indent="-216000">
              <a:lnSpc>
                <a:spcPct val="94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91b0e"/>
                </a:solidFill>
                <a:latin typeface="Franklin Gothic Book"/>
              </a:rPr>
              <a:t>Sixth Outline Level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lvl="6" marL="3024000" indent="-216000">
              <a:lnSpc>
                <a:spcPct val="94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91b0e"/>
                </a:solidFill>
                <a:latin typeface="Franklin Gothic Book"/>
              </a:rPr>
              <a:t>Seventh Outline Level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f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8"/>
          <p:cNvSpPr/>
          <p:nvPr/>
        </p:nvSpPr>
        <p:spPr>
          <a:xfrm>
            <a:off x="478080" y="360"/>
            <a:ext cx="2282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NL" sz="4400" spc="-1" strike="noStrike">
                <a:solidFill>
                  <a:srgbClr val="191b0e"/>
                </a:solidFill>
                <a:latin typeface="Franklin Gothic Book"/>
              </a:rPr>
              <a:t>Klik om stijl te bewerken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NL" sz="2000" spc="-1" strike="noStrike">
                <a:solidFill>
                  <a:srgbClr val="191b0e"/>
                </a:solidFill>
                <a:latin typeface="Franklin Gothic Book"/>
              </a:rPr>
              <a:t>Klikken om de tekststijl van het model te bewerken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lvl="1" marL="914400" indent="-38412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b="0" i="1" lang="nl-NL" sz="2000" spc="-1" strike="noStrike">
                <a:solidFill>
                  <a:srgbClr val="191b0e"/>
                </a:solidFill>
                <a:latin typeface="Franklin Gothic Book"/>
              </a:rPr>
              <a:t>Tweede niveau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lvl="2" marL="1371600" indent="-38412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NL" sz="1800" spc="-1" strike="noStrike">
                <a:solidFill>
                  <a:srgbClr val="191b0e"/>
                </a:solidFill>
                <a:latin typeface="Franklin Gothic Book"/>
              </a:rPr>
              <a:t>Derde niveau</a:t>
            </a:r>
            <a:endParaRPr b="0" i="1" lang="en-US" sz="1800" spc="-1" strike="noStrike">
              <a:solidFill>
                <a:srgbClr val="191b0e"/>
              </a:solidFill>
              <a:latin typeface="Franklin Gothic Book"/>
            </a:endParaRPr>
          </a:p>
          <a:p>
            <a:pPr lvl="3" marL="1828800" indent="-38412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b="0" i="1" lang="nl-NL" sz="1800" spc="-1" strike="noStrike">
                <a:solidFill>
                  <a:srgbClr val="191b0e"/>
                </a:solidFill>
                <a:latin typeface="Franklin Gothic Book"/>
              </a:rPr>
              <a:t>Vierde niveau</a:t>
            </a:r>
            <a:endParaRPr b="0" lang="en-US" sz="1800" spc="-1" strike="noStrike">
              <a:solidFill>
                <a:srgbClr val="191b0e"/>
              </a:solidFill>
              <a:latin typeface="Franklin Gothic Book"/>
            </a:endParaRPr>
          </a:p>
          <a:p>
            <a:pPr lvl="4" marL="2286000" indent="-38412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NL" sz="1600" spc="-1" strike="noStrike">
                <a:solidFill>
                  <a:srgbClr val="191b0e"/>
                </a:solidFill>
                <a:latin typeface="Franklin Gothic Book"/>
              </a:rPr>
              <a:t>Vijfde niveau</a:t>
            </a:r>
            <a:endParaRPr b="0" lang="en-US" sz="1600" spc="-1" strike="noStrike">
              <a:solidFill>
                <a:srgbClr val="191b0e"/>
              </a:solidFill>
              <a:latin typeface="Franklin Gothic Book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4"/>
          </p:nvPr>
        </p:nvSpPr>
        <p:spPr>
          <a:xfrm>
            <a:off x="1390680" y="6453360"/>
            <a:ext cx="120420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191b0e"/>
                </a:solidFill>
                <a:latin typeface="Franklin Gothic Book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1b0e"/>
                </a:solidFill>
                <a:latin typeface="Franklin Gothic Book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5"/>
          </p:nvPr>
        </p:nvSpPr>
        <p:spPr>
          <a:xfrm>
            <a:off x="2893680" y="6453360"/>
            <a:ext cx="628056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6"/>
          </p:nvPr>
        </p:nvSpPr>
        <p:spPr>
          <a:xfrm>
            <a:off x="9472680" y="6453360"/>
            <a:ext cx="1595880" cy="4042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191b0e"/>
                </a:solidFill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4D72F5-6742-4D05-A41F-1C1C47EB226F}" type="slidenum">
              <a:rPr b="0" lang="en-US" sz="1200" spc="-1" strike="noStrike">
                <a:solidFill>
                  <a:srgbClr val="191b0e"/>
                </a:solidFill>
                <a:latin typeface="Franklin Gothic Book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1000" cy="209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 algn="ctr">
              <a:lnSpc>
                <a:spcPct val="89000"/>
              </a:lnSpc>
              <a:buNone/>
            </a:pPr>
            <a:r>
              <a:rPr b="0" lang="nl-BE" sz="6600" spc="-1" strike="noStrike" cap="all">
                <a:solidFill>
                  <a:srgbClr val="191b0e"/>
                </a:solidFill>
                <a:latin typeface="Franklin Gothic Book"/>
              </a:rPr>
              <a:t>AI Edge : Object detection yolov11</a:t>
            </a:r>
            <a:endParaRPr b="0" lang="en-US" sz="66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2679840" y="3956400"/>
            <a:ext cx="6831360" cy="1085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 algn="ctr">
              <a:lnSpc>
                <a:spcPct val="112000"/>
              </a:lnSpc>
              <a:buNone/>
              <a:tabLst>
                <a:tab algn="l" pos="0"/>
              </a:tabLst>
            </a:pPr>
            <a:r>
              <a:rPr b="0" lang="nl-BE" sz="2300" spc="-1" strike="noStrike">
                <a:solidFill>
                  <a:srgbClr val="191b0e"/>
                </a:solidFill>
                <a:latin typeface="Franklin Gothic Book"/>
              </a:rPr>
              <a:t>Groepsproject : Lane-assist for the visual disabled</a:t>
            </a:r>
            <a:endParaRPr b="0" lang="en-GB" sz="23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2000"/>
              </a:lnSpc>
              <a:buNone/>
              <a:tabLst>
                <a:tab algn="l" pos="0"/>
              </a:tabLst>
            </a:pPr>
            <a:r>
              <a:rPr b="0" lang="nl-BE" sz="2300" spc="-1" strike="noStrike">
                <a:solidFill>
                  <a:srgbClr val="191b0e"/>
                </a:solidFill>
                <a:latin typeface="Franklin Gothic Book"/>
              </a:rPr>
              <a:t>Andres, Seraphin, Thomas</a:t>
            </a:r>
            <a:endParaRPr b="0" lang="en-GB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Inhoudsopgave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Model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Dataset(s)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ONNX runtime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Testen op foto’s/video’s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Testen met webcam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Trainen met dataset(s)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Demo + conclusie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Model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Yolov11 ✅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Detectron ❌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3799080" y="1236960"/>
            <a:ext cx="7720920" cy="434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Dataset(s)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ONNX runtime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Onnx.py : omzetten .pt naar .onnx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Create_onnx_static_quant.py : onnx </a:t>
            </a:r>
            <a:r>
              <a:rPr b="0" lang="nl-BE" sz="2000" spc="-1" strike="noStrike">
                <a:solidFill>
                  <a:srgbClr val="191b0e"/>
                </a:solidFill>
                <a:latin typeface="Wingdings"/>
              </a:rPr>
              <a:t></a:t>
            </a: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 statisch quantized model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pic>
        <p:nvPicPr>
          <p:cNvPr id="98" name="Picture 4" descr="Execution Providers | onnxruntime"/>
          <p:cNvPicPr/>
          <p:nvPr/>
        </p:nvPicPr>
        <p:blipFill>
          <a:blip r:embed="rId1"/>
          <a:stretch/>
        </p:blipFill>
        <p:spPr>
          <a:xfrm>
            <a:off x="6055560" y="3067200"/>
            <a:ext cx="5889960" cy="3685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Testen op foto’s/video’s/webcam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  <p:pic>
        <p:nvPicPr>
          <p:cNvPr id="101" name="Afbeelding 4" descr=""/>
          <p:cNvPicPr/>
          <p:nvPr/>
        </p:nvPicPr>
        <p:blipFill>
          <a:blip r:embed="rId1"/>
          <a:stretch/>
        </p:blipFill>
        <p:spPr>
          <a:xfrm>
            <a:off x="1545480" y="3654720"/>
            <a:ext cx="3550680" cy="212760"/>
          </a:xfrm>
          <a:prstGeom prst="rect">
            <a:avLst/>
          </a:prstGeom>
          <a:ln w="0">
            <a:noFill/>
          </a:ln>
        </p:spPr>
      </p:pic>
      <p:pic>
        <p:nvPicPr>
          <p:cNvPr id="102" name="Afbeelding 6" descr=""/>
          <p:cNvPicPr/>
          <p:nvPr/>
        </p:nvPicPr>
        <p:blipFill>
          <a:blip r:embed="rId2"/>
          <a:stretch/>
        </p:blipFill>
        <p:spPr>
          <a:xfrm>
            <a:off x="5244480" y="1490400"/>
            <a:ext cx="6792840" cy="505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Trainen met dataset(s)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94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840" cy="1485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89000"/>
              </a:lnSpc>
              <a:buNone/>
            </a:pPr>
            <a:r>
              <a:rPr b="0" lang="nl-BE" sz="4400" spc="-1" strike="noStrike">
                <a:solidFill>
                  <a:srgbClr val="191b0e"/>
                </a:solidFill>
                <a:latin typeface="Franklin Gothic Book"/>
              </a:rPr>
              <a:t>Demo + conclusie</a:t>
            </a:r>
            <a:endParaRPr b="0" lang="en-US" sz="4400" spc="-1" strike="noStrike">
              <a:solidFill>
                <a:srgbClr val="000000"/>
              </a:solidFill>
              <a:latin typeface="Franklin Gothic Book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840" cy="35809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b="0" lang="nl-BE" sz="2000" spc="-1" strike="noStrike">
                <a:solidFill>
                  <a:srgbClr val="191b0e"/>
                </a:solidFill>
                <a:latin typeface="Franklin Gothic Book"/>
              </a:rPr>
              <a:t>Vid als het niet werkt</a:t>
            </a:r>
            <a:endParaRPr b="0" lang="en-US" sz="2000" spc="-1" strike="noStrike">
              <a:solidFill>
                <a:srgbClr val="191b0e"/>
              </a:solidFill>
              <a:latin typeface="Franklin Gothic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9</TotalTime>
  <Application>LibreOffice/7.4.7.2$Linux_X86_64 LibreOffice_project/40$Build-2</Application>
  <AppVersion>15.0000</AppVersion>
  <Words>100</Words>
  <Paragraphs>22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2024-12-15T14:30:37Z</dcterms:created>
  <dc:creator>Andres Deklerck</dc:creator>
  <dc:description/>
  <dc:language>en-GB</dc:language>
  <cp:lastModifiedBy/>
  <dcterms:modified xsi:type="dcterms:W3CDTF">2024-12-17T16:04:45Z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Breedbeeld</vt:lpwstr>
  </property>
  <property fmtid="{D5CDD505-2E9C-101B-9397-08002B2CF9AE}" pid="3" name="Slides">
    <vt:i4>8</vt:i4>
  </property>
</Properties>
</file>